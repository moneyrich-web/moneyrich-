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6A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6A62C"/>
                </a:solidFill>
                <a:latin typeface="Arial"/>
              </a:defRPr>
            </a:pPr>
            <a:r>
              <a:t>MONEYRICH GLOBAL FINTECH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  <a:latin typeface="Arial"/>
              </a:defRPr>
            </a:pPr>
            <a:r>
              <a:t>Online Payment Solutions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  <a:latin typeface="Arial"/>
              </a:defRPr>
            </a:pPr>
            <a:r>
              <a:t>Project Presentation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  <a:latin typeface="Arial"/>
              </a:defRPr>
            </a:pPr>
            <a:r>
              <a:t>[Your Name]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  <a:latin typeface="Arial"/>
              </a:defRPr>
            </a:pPr>
            <a:r>
              <a:t>[Department] • [Institution]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  <a:latin typeface="Arial"/>
              </a:defRPr>
            </a:pPr>
            <a:r>
              <a:t>[Date]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86"/>
                </a:solidFill>
                <a:latin typeface="Arial"/>
              </a:defRPr>
            </a:pPr>
            <a: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6A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7152F"/>
                </a:solidFill>
                <a:latin typeface="Arial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33"/>
                </a:solidFill>
                <a:latin typeface="Arial"/>
              </a:defRPr>
            </a:pPr>
            <a:r>
              <a:t>MoneyRich Global Fintech is a web-based digital payment platform.</a:t>
            </a:r>
          </a:p>
          <a:p>
            <a:pPr>
              <a:spcAft>
                <a:spcPts val="1000"/>
              </a:spcAft>
              <a:defRPr sz="1800">
                <a:solidFill>
                  <a:srgbClr val="172033"/>
                </a:solidFill>
                <a:latin typeface="Arial"/>
              </a:defRPr>
            </a:pPr>
            <a:r>
              <a:t>Designed to provide convenient access to selected digital services.</a:t>
            </a:r>
          </a:p>
          <a:p>
            <a:pPr>
              <a:spcAft>
                <a:spcPts val="1000"/>
              </a:spcAft>
              <a:defRPr sz="1800">
                <a:solidFill>
                  <a:srgbClr val="172033"/>
                </a:solidFill>
                <a:latin typeface="Arial"/>
              </a:defRPr>
            </a:pPr>
            <a:r>
              <a:t>• Airtime and data services</a:t>
            </a:r>
          </a:p>
          <a:p>
            <a:pPr>
              <a:spcAft>
                <a:spcPts val="1000"/>
              </a:spcAft>
              <a:defRPr sz="1800">
                <a:solidFill>
                  <a:srgbClr val="172033"/>
                </a:solidFill>
                <a:latin typeface="Arial"/>
              </a:defRPr>
            </a:pPr>
            <a:r>
              <a:t>• Subscription and supported digital services</a:t>
            </a:r>
          </a:p>
          <a:p>
            <a:pPr>
              <a:spcAft>
                <a:spcPts val="1000"/>
              </a:spcAft>
              <a:defRPr sz="1800">
                <a:solidFill>
                  <a:srgbClr val="172033"/>
                </a:solidFill>
                <a:latin typeface="Arial"/>
              </a:defRPr>
            </a:pPr>
            <a:r>
              <a:t>• Rewards and user engagement</a:t>
            </a:r>
          </a:p>
          <a:p>
            <a:pPr>
              <a:spcAft>
                <a:spcPts val="1000"/>
              </a:spcAft>
              <a:defRPr sz="1800">
                <a:solidFill>
                  <a:srgbClr val="172033"/>
                </a:solidFill>
                <a:latin typeface="Arial"/>
              </a:defRPr>
            </a:pPr>
            <a:r>
              <a:t>• Simple, modern user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86"/>
                </a:solidFill>
                <a:latin typeface="Arial"/>
              </a:defRPr>
            </a:pPr>
            <a: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6A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7152F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33"/>
                </a:solidFill>
                <a:latin typeface="Arial"/>
              </a:defRPr>
            </a:pPr>
            <a:r>
              <a:t>Users may experience inconvenience when using different platforms for different digital services.</a:t>
            </a:r>
          </a:p>
          <a:p>
            <a:pPr>
              <a:spcAft>
                <a:spcPts val="1000"/>
              </a:spcAft>
              <a:defRPr sz="1800">
                <a:solidFill>
                  <a:srgbClr val="172033"/>
                </a:solidFill>
                <a:latin typeface="Arial"/>
              </a:defRPr>
            </a:pPr>
            <a:r>
              <a:t>Key challenges:</a:t>
            </a:r>
          </a:p>
          <a:p>
            <a:pPr>
              <a:spcAft>
                <a:spcPts val="1000"/>
              </a:spcAft>
              <a:defRPr sz="1800">
                <a:solidFill>
                  <a:srgbClr val="172033"/>
                </a:solidFill>
                <a:latin typeface="Arial"/>
              </a:defRPr>
            </a:pPr>
            <a:r>
              <a:t>• Multiple platforms for related services</a:t>
            </a:r>
          </a:p>
          <a:p>
            <a:pPr>
              <a:spcAft>
                <a:spcPts val="1000"/>
              </a:spcAft>
              <a:defRPr sz="1800">
                <a:solidFill>
                  <a:srgbClr val="172033"/>
                </a:solidFill>
                <a:latin typeface="Arial"/>
              </a:defRPr>
            </a:pPr>
            <a:r>
              <a:t>• Complicated or inconsistent interfaces</a:t>
            </a:r>
          </a:p>
          <a:p>
            <a:pPr>
              <a:spcAft>
                <a:spcPts val="1000"/>
              </a:spcAft>
              <a:defRPr sz="1800">
                <a:solidFill>
                  <a:srgbClr val="172033"/>
                </a:solidFill>
                <a:latin typeface="Arial"/>
              </a:defRPr>
            </a:pPr>
            <a:r>
              <a:t>• Difficulty managing digital transactions</a:t>
            </a:r>
          </a:p>
          <a:p>
            <a:pPr>
              <a:spcAft>
                <a:spcPts val="1000"/>
              </a:spcAft>
              <a:defRPr sz="1800">
                <a:solidFill>
                  <a:srgbClr val="172033"/>
                </a:solidFill>
                <a:latin typeface="Arial"/>
              </a:defRPr>
            </a:pPr>
            <a:r>
              <a:t>The project aims to provide a more organized and user-friendly solution.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86"/>
                </a:solidFill>
                <a:latin typeface="Arial"/>
              </a:defRPr>
            </a:pPr>
            <a: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6A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7152F"/>
                </a:solidFill>
                <a:latin typeface="Arial"/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33"/>
                </a:solidFill>
                <a:latin typeface="Arial"/>
              </a:defRPr>
            </a:pPr>
            <a:r>
              <a:t>• Develop a modern and responsive fintech website.</a:t>
            </a:r>
          </a:p>
          <a:p>
            <a:pPr>
              <a:spcAft>
                <a:spcPts val="1000"/>
              </a:spcAft>
              <a:defRPr sz="1800">
                <a:solidFill>
                  <a:srgbClr val="172033"/>
                </a:solidFill>
                <a:latin typeface="Arial"/>
              </a:defRPr>
            </a:pPr>
            <a:r>
              <a:t>• Provide an easy-to-use interface.</a:t>
            </a:r>
          </a:p>
          <a:p>
            <a:pPr>
              <a:spcAft>
                <a:spcPts val="1000"/>
              </a:spcAft>
              <a:defRPr sz="1800">
                <a:solidFill>
                  <a:srgbClr val="172033"/>
                </a:solidFill>
                <a:latin typeface="Arial"/>
              </a:defRPr>
            </a:pPr>
            <a:r>
              <a:t>• Present supported digital services clearly.</a:t>
            </a:r>
          </a:p>
          <a:p>
            <a:pPr>
              <a:spcAft>
                <a:spcPts val="1000"/>
              </a:spcAft>
              <a:defRPr sz="1800">
                <a:solidFill>
                  <a:srgbClr val="172033"/>
                </a:solidFill>
                <a:latin typeface="Arial"/>
              </a:defRPr>
            </a:pPr>
            <a:r>
              <a:t>• Create a foundation for secure transaction processing.</a:t>
            </a:r>
          </a:p>
          <a:p>
            <a:pPr>
              <a:spcAft>
                <a:spcPts val="1000"/>
              </a:spcAft>
              <a:defRPr sz="1800">
                <a:solidFill>
                  <a:srgbClr val="172033"/>
                </a:solidFill>
                <a:latin typeface="Arial"/>
              </a:defRPr>
            </a:pPr>
            <a:r>
              <a:t>• Support future user accounts and transaction features.</a:t>
            </a:r>
          </a:p>
          <a:p>
            <a:pPr>
              <a:spcAft>
                <a:spcPts val="1000"/>
              </a:spcAft>
              <a:defRPr sz="1800">
                <a:solidFill>
                  <a:srgbClr val="172033"/>
                </a:solidFill>
                <a:latin typeface="Arial"/>
              </a:defRPr>
            </a:pPr>
            <a:r>
              <a:t>• Provide opportunities for rewards and customer engagement.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86"/>
                </a:solidFill>
                <a:latin typeface="Arial"/>
              </a:defRPr>
            </a:pPr>
            <a: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6A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7152F"/>
                </a:solidFill>
                <a:latin typeface="Arial"/>
              </a:defRPr>
            </a:pPr>
            <a:r>
              <a:t>MAJOR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33"/>
                </a:solidFill>
                <a:latin typeface="Arial"/>
              </a:defRPr>
            </a:pPr>
            <a:r>
              <a:t>• Home page and responsive navigation</a:t>
            </a:r>
          </a:p>
          <a:p>
            <a:pPr>
              <a:spcAft>
                <a:spcPts val="1000"/>
              </a:spcAft>
              <a:defRPr sz="1800">
                <a:solidFill>
                  <a:srgbClr val="172033"/>
                </a:solidFill>
                <a:latin typeface="Arial"/>
              </a:defRPr>
            </a:pPr>
            <a:r>
              <a:t>• Airtime and data services</a:t>
            </a:r>
          </a:p>
          <a:p>
            <a:pPr>
              <a:spcAft>
                <a:spcPts val="1000"/>
              </a:spcAft>
              <a:defRPr sz="1800">
                <a:solidFill>
                  <a:srgbClr val="172033"/>
                </a:solidFill>
                <a:latin typeface="Arial"/>
              </a:defRPr>
            </a:pPr>
            <a:r>
              <a:t>• Subscription services</a:t>
            </a:r>
          </a:p>
          <a:p>
            <a:pPr>
              <a:spcAft>
                <a:spcPts val="1000"/>
              </a:spcAft>
              <a:defRPr sz="1800">
                <a:solidFill>
                  <a:srgbClr val="172033"/>
                </a:solidFill>
                <a:latin typeface="Arial"/>
              </a:defRPr>
            </a:pPr>
            <a:r>
              <a:t>• Pricing information</a:t>
            </a:r>
          </a:p>
          <a:p>
            <a:pPr>
              <a:spcAft>
                <a:spcPts val="1000"/>
              </a:spcAft>
              <a:defRPr sz="1800">
                <a:solidFill>
                  <a:srgbClr val="172033"/>
                </a:solidFill>
                <a:latin typeface="Arial"/>
              </a:defRPr>
            </a:pPr>
            <a:r>
              <a:t>• How-it-works section</a:t>
            </a:r>
          </a:p>
          <a:p>
            <a:pPr>
              <a:spcAft>
                <a:spcPts val="1000"/>
              </a:spcAft>
              <a:defRPr sz="1800">
                <a:solidFill>
                  <a:srgbClr val="172033"/>
                </a:solidFill>
                <a:latin typeface="Arial"/>
              </a:defRPr>
            </a:pPr>
            <a:r>
              <a:t>• User dashboard concept</a:t>
            </a:r>
          </a:p>
          <a:p>
            <a:pPr>
              <a:spcAft>
                <a:spcPts val="1000"/>
              </a:spcAft>
              <a:defRPr sz="1800">
                <a:solidFill>
                  <a:srgbClr val="172033"/>
                </a:solidFill>
                <a:latin typeface="Arial"/>
              </a:defRPr>
            </a:pPr>
            <a:r>
              <a:t>• Rewards section</a:t>
            </a:r>
          </a:p>
          <a:p>
            <a:pPr>
              <a:spcAft>
                <a:spcPts val="1000"/>
              </a:spcAft>
              <a:defRPr sz="1800">
                <a:solidFill>
                  <a:srgbClr val="172033"/>
                </a:solidFill>
                <a:latin typeface="Arial"/>
              </a:defRPr>
            </a:pPr>
            <a:r>
              <a:t>• Security section</a:t>
            </a:r>
          </a:p>
          <a:p>
            <a:pPr>
              <a:spcAft>
                <a:spcPts val="1000"/>
              </a:spcAft>
              <a:defRPr sz="1800">
                <a:solidFill>
                  <a:srgbClr val="172033"/>
                </a:solidFill>
                <a:latin typeface="Arial"/>
              </a:defRPr>
            </a:pPr>
            <a:r>
              <a:t>• Contact / call-to-action 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86"/>
                </a:solidFill>
                <a:latin typeface="Arial"/>
              </a:defRPr>
            </a:pPr>
            <a: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6A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7152F"/>
                </a:solidFill>
                <a:latin typeface="Arial"/>
              </a:defRPr>
            </a:pPr>
            <a:r>
              <a:t>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33"/>
                </a:solidFill>
                <a:latin typeface="Arial"/>
              </a:defRPr>
            </a:pPr>
            <a:r>
              <a:t>HTML5 — Website structure</a:t>
            </a:r>
          </a:p>
          <a:p>
            <a:pPr>
              <a:spcAft>
                <a:spcPts val="1000"/>
              </a:spcAft>
              <a:defRPr sz="1800">
                <a:solidFill>
                  <a:srgbClr val="172033"/>
                </a:solidFill>
                <a:latin typeface="Arial"/>
              </a:defRPr>
            </a:pPr>
            <a:r>
              <a:t>CSS3 — Styling and visual design</a:t>
            </a:r>
          </a:p>
          <a:p>
            <a:pPr>
              <a:spcAft>
                <a:spcPts val="1000"/>
              </a:spcAft>
              <a:defRPr sz="1800">
                <a:solidFill>
                  <a:srgbClr val="172033"/>
                </a:solidFill>
                <a:latin typeface="Arial"/>
              </a:defRPr>
            </a:pPr>
            <a:r>
              <a:t>JavaScript — Interactive functionality</a:t>
            </a:r>
          </a:p>
          <a:p>
            <a:pPr>
              <a:spcAft>
                <a:spcPts val="1000"/>
              </a:spcAft>
              <a:defRPr sz="1800">
                <a:solidFill>
                  <a:srgbClr val="172033"/>
                </a:solidFill>
                <a:latin typeface="Arial"/>
              </a:defRPr>
            </a:pPr>
            <a:r>
              <a:t>Node.js — Backend development</a:t>
            </a:r>
          </a:p>
          <a:p>
            <a:pPr>
              <a:spcAft>
                <a:spcPts val="1000"/>
              </a:spcAft>
              <a:defRPr sz="1800">
                <a:solidFill>
                  <a:srgbClr val="172033"/>
                </a:solidFill>
                <a:latin typeface="Arial"/>
              </a:defRPr>
            </a:pPr>
            <a:r>
              <a:t>Express.js — Server/API development</a:t>
            </a:r>
          </a:p>
          <a:p>
            <a:pPr>
              <a:spcAft>
                <a:spcPts val="1000"/>
              </a:spcAft>
              <a:defRPr sz="1800">
                <a:solidFill>
                  <a:srgbClr val="172033"/>
                </a:solidFill>
                <a:latin typeface="Arial"/>
              </a:defRPr>
            </a:pPr>
            <a:r>
              <a:t>Database — Application data storage</a:t>
            </a:r>
          </a:p>
          <a:p>
            <a:pPr>
              <a:spcAft>
                <a:spcPts val="1000"/>
              </a:spcAft>
              <a:defRPr sz="1800">
                <a:solidFill>
                  <a:srgbClr val="172033"/>
                </a:solidFill>
                <a:latin typeface="Arial"/>
              </a:defRPr>
            </a:pPr>
            <a:r>
              <a:t>VS Code — Development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86"/>
                </a:solidFill>
                <a:latin typeface="Arial"/>
              </a:defRPr>
            </a:pPr>
            <a: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6A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7152F"/>
                </a:solidFill>
                <a:latin typeface="Arial"/>
              </a:defRPr>
            </a:pPr>
            <a:r>
              <a:t>WEBSITE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33"/>
                </a:solidFill>
                <a:latin typeface="Arial"/>
              </a:defRPr>
            </a:pPr>
            <a:r>
              <a:t>Show the actual MoneyRich Global Fintech website.</a:t>
            </a:r>
          </a:p>
          <a:p>
            <a:pPr>
              <a:spcAft>
                <a:spcPts val="1000"/>
              </a:spcAft>
              <a:defRPr sz="1800">
                <a:solidFill>
                  <a:srgbClr val="172033"/>
                </a:solidFill>
                <a:latin typeface="Arial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172033"/>
                </a:solidFill>
                <a:latin typeface="Arial"/>
              </a:defRPr>
            </a:pPr>
            <a:r>
              <a:t>Recommended demonstration order:</a:t>
            </a:r>
          </a:p>
          <a:p>
            <a:pPr>
              <a:spcAft>
                <a:spcPts val="1000"/>
              </a:spcAft>
              <a:defRPr sz="1800">
                <a:solidFill>
                  <a:srgbClr val="172033"/>
                </a:solidFill>
                <a:latin typeface="Arial"/>
              </a:defRPr>
            </a:pPr>
            <a:r>
              <a:t>1. Home page</a:t>
            </a:r>
          </a:p>
          <a:p>
            <a:pPr>
              <a:spcAft>
                <a:spcPts val="1000"/>
              </a:spcAft>
              <a:defRPr sz="1800">
                <a:solidFill>
                  <a:srgbClr val="172033"/>
                </a:solidFill>
                <a:latin typeface="Arial"/>
              </a:defRPr>
            </a:pPr>
            <a:r>
              <a:t>2. Services</a:t>
            </a:r>
          </a:p>
          <a:p>
            <a:pPr>
              <a:spcAft>
                <a:spcPts val="1000"/>
              </a:spcAft>
              <a:defRPr sz="1800">
                <a:solidFill>
                  <a:srgbClr val="172033"/>
                </a:solidFill>
                <a:latin typeface="Arial"/>
              </a:defRPr>
            </a:pPr>
            <a:r>
              <a:t>3. Pricing</a:t>
            </a:r>
          </a:p>
          <a:p>
            <a:pPr>
              <a:spcAft>
                <a:spcPts val="1000"/>
              </a:spcAft>
              <a:defRPr sz="1800">
                <a:solidFill>
                  <a:srgbClr val="172033"/>
                </a:solidFill>
                <a:latin typeface="Arial"/>
              </a:defRPr>
            </a:pPr>
            <a:r>
              <a:t>4. How It Works</a:t>
            </a:r>
          </a:p>
          <a:p>
            <a:pPr>
              <a:spcAft>
                <a:spcPts val="1000"/>
              </a:spcAft>
              <a:defRPr sz="1800">
                <a:solidFill>
                  <a:srgbClr val="172033"/>
                </a:solidFill>
                <a:latin typeface="Arial"/>
              </a:defRPr>
            </a:pPr>
            <a:r>
              <a:t>5. Dashboard</a:t>
            </a:r>
          </a:p>
          <a:p>
            <a:pPr>
              <a:spcAft>
                <a:spcPts val="1000"/>
              </a:spcAft>
              <a:defRPr sz="1800">
                <a:solidFill>
                  <a:srgbClr val="172033"/>
                </a:solidFill>
                <a:latin typeface="Arial"/>
              </a:defRPr>
            </a:pPr>
            <a:r>
              <a:t>6. Rewards</a:t>
            </a:r>
          </a:p>
          <a:p>
            <a:pPr>
              <a:spcAft>
                <a:spcPts val="1000"/>
              </a:spcAft>
              <a:defRPr sz="1800">
                <a:solidFill>
                  <a:srgbClr val="172033"/>
                </a:solidFill>
                <a:latin typeface="Arial"/>
              </a:defRPr>
            </a:pPr>
            <a:r>
              <a:t>7. Security</a:t>
            </a:r>
          </a:p>
          <a:p>
            <a:pPr>
              <a:spcAft>
                <a:spcPts val="1000"/>
              </a:spcAft>
              <a:defRPr sz="1800">
                <a:solidFill>
                  <a:srgbClr val="172033"/>
                </a:solidFill>
                <a:latin typeface="Arial"/>
              </a:defRPr>
            </a:pPr>
            <a:r>
              <a:t>8. Footer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86"/>
                </a:solidFill>
                <a:latin typeface="Arial"/>
              </a:defRPr>
            </a:pPr>
            <a: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6A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7152F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72033"/>
                </a:solidFill>
                <a:latin typeface="Arial"/>
              </a:defRPr>
            </a:pPr>
            <a:r>
              <a:t>USER</a:t>
            </a:r>
          </a:p>
          <a:p>
            <a:pPr>
              <a:spcAft>
                <a:spcPts val="1000"/>
              </a:spcAft>
              <a:defRPr sz="1800" b="1">
                <a:solidFill>
                  <a:srgbClr val="172033"/>
                </a:solidFill>
                <a:latin typeface="Arial"/>
              </a:defRPr>
            </a:pPr>
            <a:r>
              <a:t>↓</a:t>
            </a:r>
          </a:p>
          <a:p>
            <a:pPr>
              <a:spcAft>
                <a:spcPts val="1000"/>
              </a:spcAft>
              <a:defRPr sz="1800" b="1">
                <a:solidFill>
                  <a:srgbClr val="172033"/>
                </a:solidFill>
                <a:latin typeface="Arial"/>
              </a:defRPr>
            </a:pPr>
            <a:r>
              <a:t>FRONTEND — HTML / CSS / JavaScript</a:t>
            </a:r>
          </a:p>
          <a:p>
            <a:pPr>
              <a:spcAft>
                <a:spcPts val="1000"/>
              </a:spcAft>
              <a:defRPr sz="1800" b="1">
                <a:solidFill>
                  <a:srgbClr val="172033"/>
                </a:solidFill>
                <a:latin typeface="Arial"/>
              </a:defRPr>
            </a:pPr>
            <a:r>
              <a:t>↓</a:t>
            </a:r>
          </a:p>
          <a:p>
            <a:pPr>
              <a:spcAft>
                <a:spcPts val="1000"/>
              </a:spcAft>
              <a:defRPr sz="1800" b="1">
                <a:solidFill>
                  <a:srgbClr val="172033"/>
                </a:solidFill>
                <a:latin typeface="Arial"/>
              </a:defRPr>
            </a:pPr>
            <a:r>
              <a:t>BACKEND — Node.js / Express</a:t>
            </a:r>
          </a:p>
          <a:p>
            <a:pPr>
              <a:spcAft>
                <a:spcPts val="1000"/>
              </a:spcAft>
              <a:defRPr sz="1800" b="1">
                <a:solidFill>
                  <a:srgbClr val="172033"/>
                </a:solidFill>
                <a:latin typeface="Arial"/>
              </a:defRPr>
            </a:pPr>
            <a:r>
              <a:t>↓</a:t>
            </a:r>
          </a:p>
          <a:p>
            <a:pPr>
              <a:spcAft>
                <a:spcPts val="1000"/>
              </a:spcAft>
              <a:defRPr sz="1800" b="1">
                <a:solidFill>
                  <a:srgbClr val="172033"/>
                </a:solidFill>
                <a:latin typeface="Arial"/>
              </a:defRPr>
            </a:pPr>
            <a:r>
              <a:t>DATABASE — User and application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86"/>
                </a:solidFill>
                <a:latin typeface="Arial"/>
              </a:defRPr>
            </a:pPr>
            <a: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6A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7152F"/>
                </a:solidFill>
                <a:latin typeface="Arial"/>
              </a:defRPr>
            </a:pPr>
            <a:r>
              <a:t>FUTURE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33"/>
                </a:solidFill>
                <a:latin typeface="Arial"/>
              </a:defRPr>
            </a:pPr>
            <a:r>
              <a:t>• User registration and secure login</a:t>
            </a:r>
          </a:p>
          <a:p>
            <a:pPr>
              <a:spcAft>
                <a:spcPts val="1000"/>
              </a:spcAft>
              <a:defRPr sz="1800">
                <a:solidFill>
                  <a:srgbClr val="172033"/>
                </a:solidFill>
                <a:latin typeface="Arial"/>
              </a:defRPr>
            </a:pPr>
            <a:r>
              <a:t>• Payment gateway integration</a:t>
            </a:r>
          </a:p>
          <a:p>
            <a:pPr>
              <a:spcAft>
                <a:spcPts val="1000"/>
              </a:spcAft>
              <a:defRPr sz="1800">
                <a:solidFill>
                  <a:srgbClr val="172033"/>
                </a:solidFill>
                <a:latin typeface="Arial"/>
              </a:defRPr>
            </a:pPr>
            <a:r>
              <a:t>• Airtime/data API integration</a:t>
            </a:r>
          </a:p>
          <a:p>
            <a:pPr>
              <a:spcAft>
                <a:spcPts val="1000"/>
              </a:spcAft>
              <a:defRPr sz="1800">
                <a:solidFill>
                  <a:srgbClr val="172033"/>
                </a:solidFill>
                <a:latin typeface="Arial"/>
              </a:defRPr>
            </a:pPr>
            <a:r>
              <a:t>• Transaction history</a:t>
            </a:r>
          </a:p>
          <a:p>
            <a:pPr>
              <a:spcAft>
                <a:spcPts val="1000"/>
              </a:spcAft>
              <a:defRPr sz="1800">
                <a:solidFill>
                  <a:srgbClr val="172033"/>
                </a:solidFill>
                <a:latin typeface="Arial"/>
              </a:defRPr>
            </a:pPr>
            <a:r>
              <a:t>• User wallet</a:t>
            </a:r>
          </a:p>
          <a:p>
            <a:pPr>
              <a:spcAft>
                <a:spcPts val="1000"/>
              </a:spcAft>
              <a:defRPr sz="1800">
                <a:solidFill>
                  <a:srgbClr val="172033"/>
                </a:solidFill>
                <a:latin typeface="Arial"/>
              </a:defRPr>
            </a:pPr>
            <a:r>
              <a:t>• Automated receipts</a:t>
            </a:r>
          </a:p>
          <a:p>
            <a:pPr>
              <a:spcAft>
                <a:spcPts val="1000"/>
              </a:spcAft>
              <a:defRPr sz="1800">
                <a:solidFill>
                  <a:srgbClr val="172033"/>
                </a:solidFill>
                <a:latin typeface="Arial"/>
              </a:defRPr>
            </a:pPr>
            <a:r>
              <a:t>• Advanced rewards system</a:t>
            </a:r>
          </a:p>
          <a:p>
            <a:pPr>
              <a:spcAft>
                <a:spcPts val="1000"/>
              </a:spcAft>
              <a:defRPr sz="1800">
                <a:solidFill>
                  <a:srgbClr val="172033"/>
                </a:solidFill>
                <a:latin typeface="Arial"/>
              </a:defRPr>
            </a:pPr>
            <a:r>
              <a:t>• Admin dashboard</a:t>
            </a:r>
          </a:p>
          <a:p>
            <a:pPr>
              <a:spcAft>
                <a:spcPts val="1000"/>
              </a:spcAft>
              <a:defRPr sz="1800">
                <a:solidFill>
                  <a:srgbClr val="172033"/>
                </a:solidFill>
                <a:latin typeface="Arial"/>
              </a:defRPr>
            </a:pPr>
            <a:r>
              <a:t>• Database integration</a:t>
            </a:r>
          </a:p>
          <a:p>
            <a:pPr>
              <a:spcAft>
                <a:spcPts val="1000"/>
              </a:spcAft>
              <a:defRPr sz="1800">
                <a:solidFill>
                  <a:srgbClr val="172033"/>
                </a:solidFill>
                <a:latin typeface="Arial"/>
              </a:defRPr>
            </a:pPr>
            <a:r>
              <a:t>• Deployment with a permanent domain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86"/>
                </a:solidFill>
                <a:latin typeface="Arial"/>
              </a:defRPr>
            </a:pPr>
            <a: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6A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7152F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33"/>
                </a:solidFill>
                <a:latin typeface="Arial"/>
              </a:defRPr>
            </a:pPr>
            <a:r>
              <a:t>MoneyRich Global Fintech provides a foundation for a modern digital payment platform.</a:t>
            </a:r>
          </a:p>
          <a:p>
            <a:pPr>
              <a:spcAft>
                <a:spcPts val="1000"/>
              </a:spcAft>
              <a:defRPr sz="1800">
                <a:solidFill>
                  <a:srgbClr val="172033"/>
                </a:solidFill>
                <a:latin typeface="Arial"/>
              </a:defRPr>
            </a:pPr>
            <a:r>
              <a:t>The project demonstrates:</a:t>
            </a:r>
          </a:p>
          <a:p>
            <a:pPr>
              <a:spcAft>
                <a:spcPts val="1000"/>
              </a:spcAft>
              <a:defRPr sz="1800">
                <a:solidFill>
                  <a:srgbClr val="172033"/>
                </a:solidFill>
                <a:latin typeface="Arial"/>
              </a:defRPr>
            </a:pPr>
            <a:r>
              <a:t>• Responsive web design</a:t>
            </a:r>
          </a:p>
          <a:p>
            <a:pPr>
              <a:spcAft>
                <a:spcPts val="1000"/>
              </a:spcAft>
              <a:defRPr sz="1800">
                <a:solidFill>
                  <a:srgbClr val="172033"/>
                </a:solidFill>
                <a:latin typeface="Arial"/>
              </a:defRPr>
            </a:pPr>
            <a:r>
              <a:t>• User-friendly interface</a:t>
            </a:r>
          </a:p>
          <a:p>
            <a:pPr>
              <a:spcAft>
                <a:spcPts val="1000"/>
              </a:spcAft>
              <a:defRPr sz="1800">
                <a:solidFill>
                  <a:srgbClr val="172033"/>
                </a:solidFill>
                <a:latin typeface="Arial"/>
              </a:defRPr>
            </a:pPr>
            <a:r>
              <a:t>• Interactive website functionality</a:t>
            </a:r>
          </a:p>
          <a:p>
            <a:pPr>
              <a:spcAft>
                <a:spcPts val="1000"/>
              </a:spcAft>
              <a:defRPr sz="1800">
                <a:solidFill>
                  <a:srgbClr val="172033"/>
                </a:solidFill>
                <a:latin typeface="Arial"/>
              </a:defRPr>
            </a:pPr>
            <a:r>
              <a:t>• Fintech-oriented service presentation</a:t>
            </a:r>
          </a:p>
          <a:p>
            <a:pPr>
              <a:spcAft>
                <a:spcPts val="1000"/>
              </a:spcAft>
              <a:defRPr sz="1800">
                <a:solidFill>
                  <a:srgbClr val="172033"/>
                </a:solidFill>
                <a:latin typeface="Arial"/>
              </a:defRPr>
            </a:pPr>
            <a:r>
              <a:t>• Foundation for backend and database integration</a:t>
            </a:r>
          </a:p>
          <a:p>
            <a:pPr>
              <a:spcAft>
                <a:spcPts val="1000"/>
              </a:spcAft>
              <a:defRPr sz="1800">
                <a:solidFill>
                  <a:srgbClr val="172033"/>
                </a:solidFill>
                <a:latin typeface="Arial"/>
              </a:defRPr>
            </a:pPr>
          </a:p>
          <a:p>
            <a:pPr>
              <a:spcAft>
                <a:spcPts val="1000"/>
              </a:spcAft>
              <a:defRPr sz="2600" b="1">
                <a:solidFill>
                  <a:srgbClr val="D6A62C"/>
                </a:solidFill>
                <a:latin typeface="Arial"/>
              </a:defRPr>
            </a:pPr>
            <a:r>
              <a:t>THANK YOU</a:t>
            </a:r>
          </a:p>
          <a:p>
            <a:pPr>
              <a:spcAft>
                <a:spcPts val="1000"/>
              </a:spcAft>
              <a:defRPr sz="1800">
                <a:solidFill>
                  <a:srgbClr val="172033"/>
                </a:solidFill>
                <a:latin typeface="Arial"/>
              </a:defRPr>
            </a:pPr>
            <a:r>
              <a:t>Questions &amp;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86"/>
                </a:solidFill>
                <a:latin typeface="Arial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